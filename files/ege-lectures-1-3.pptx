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Подготовка к ЕГЭ: профильная математика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Лекции 1–3 · 10 класс, октябрь · старт двухлетнего курса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Куда мы идём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80160"/>
            <a:ext cx="252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103120"/>
            <a:ext cx="252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вашего экзамена, июнь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307080" y="1280160"/>
            <a:ext cx="252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3307080" y="2103120"/>
            <a:ext cx="252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заданий в модели 2027 года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11240" y="1280160"/>
            <a:ext cx="252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6111240" y="2103120"/>
            <a:ext cx="252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первичных балла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108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экзамен отводится 3 часа 55 минут. Калькулятора нет — считаем руками с первого занятия.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74904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2027 года — пока проект ФИПИ. Демоверсию-2028 проверяем осенью 2027 года.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экзамена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624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— задания 1–13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Краткий ответ: число.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первичных баллов, по 1 за задание.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Частичных баллов нет: ошибка в арифметике = потерянный балл.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2344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624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— задания 14–20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Развёрнутое решение с обоснованием.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первичных баллов.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Баллы зависят и от оформления по критериям.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118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для подготовки: первая часть должна решаться без ошибок — это 13 баллов из 33.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нового в модели 2027 года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2529840" cy="2011680"/>
          </a:xfrm>
          <a:prstGeom prst="roundRect">
            <a:avLst>
              <a:gd name="adj" fmla="val 3636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6245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216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Случайные величины: распределение, математическое ожидание, дисперсия, стандартное отклонение.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07080" y="1234440"/>
            <a:ext cx="2529840" cy="2011680"/>
          </a:xfrm>
          <a:prstGeom prst="roundRect">
            <a:avLst>
              <a:gd name="adj" fmla="val 3636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89960" y="136245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13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89960" y="1691640"/>
            <a:ext cx="216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Финансовая задача переехала в первую часть. Стала проще: ответ — число, 1 балл.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11240" y="1234440"/>
            <a:ext cx="2529840" cy="2011680"/>
          </a:xfrm>
          <a:prstGeom prst="roundRect">
            <a:avLst>
              <a:gd name="adj" fmla="val 3636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94120" y="136245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17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94120" y="1691640"/>
            <a:ext cx="216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Моделирование реальных ситуаций, в том числе из физики. Формулы даются в условии.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47472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Убрано задание на точку максимума функции (№ 12 по нумерации 2026 года).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подготовки на два года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29840" cy="1325880"/>
          </a:xfrm>
          <a:prstGeom prst="roundRect">
            <a:avLst>
              <a:gd name="adj" fmla="val 551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167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Окт – дек, 10 кл.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216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Фундамент: вычисления, выражения, текстовые задачи, планиметрия, вероятность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07080" y="1188720"/>
            <a:ext cx="2529840" cy="1325880"/>
          </a:xfrm>
          <a:prstGeom prst="roundRect">
            <a:avLst>
              <a:gd name="adj" fmla="val 551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89960" y="13167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Янв – май, 10 кл.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89960" y="1645920"/>
            <a:ext cx="216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часть вслед за школьной программой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11240" y="1188720"/>
            <a:ext cx="2529840" cy="1325880"/>
          </a:xfrm>
          <a:prstGeom prst="roundRect">
            <a:avLst>
              <a:gd name="adj" fmla="val 551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94120" y="13167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94120" y="1645920"/>
            <a:ext cx="216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Поддерживающий режим, первые варианты первой части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2529840" cy="1325880"/>
          </a:xfrm>
          <a:prstGeom prst="roundRect">
            <a:avLst>
              <a:gd name="adj" fmla="val 551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9169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 – дек, 11 кл.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246120"/>
            <a:ext cx="216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часть до автоматизма, старт второй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07080" y="2788920"/>
            <a:ext cx="2529840" cy="1325880"/>
          </a:xfrm>
          <a:prstGeom prst="roundRect">
            <a:avLst>
              <a:gd name="adj" fmla="val 551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89960" y="29169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Янв – мар, 11 кл.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89960" y="3246120"/>
            <a:ext cx="216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часть под целевой балл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11240" y="2788920"/>
            <a:ext cx="2529840" cy="1325880"/>
          </a:xfrm>
          <a:prstGeom prst="roundRect">
            <a:avLst>
              <a:gd name="adj" fmla="val 551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94120" y="29169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Апр – май, 11 кл.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94120" y="3246120"/>
            <a:ext cx="216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Полные варианты по времени, пробные экзамены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05840" cy="100584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463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Вычисления без ошибок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402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действий · дроби · степени и корни · проценты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действий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9304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9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23444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Скобки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02536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94767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Степени и корни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66090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Умножение и деление — слева направо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374136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Сложение и вычитание — слева направо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6908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0690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Ловушка: 24 : 4 · 2 = 12, а не 3. Минус перед скобкой меняет знаки всех слагаемых: 5 − (2 − 3) = 6.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Дроби: четыре правила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167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Сложение и вычитание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наименьший общий знаменатель.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167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Умножение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сократить крест-накрест, потом перемножить.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5968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Деление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Умножение на перевёрнутую дробь.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2468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5968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Смешанные числа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умножением и делением переводим: 2 1/3 = 7/3.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5760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Держать в памяти: 0,5 = 1/2 · 0,25 = 1/4 · 0,75 = 3/4 · 0,2 = 1/5 · 0,125 = 1/8.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Степени и корни: свойства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167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Степени (a ≠ 0)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aᵐ · aⁿ = aᵐ⁺ⁿ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aᵐ : aⁿ = aᵐ⁻ⁿ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(aᵐ)ⁿ = aᵐⁿ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(ab)ⁿ = aⁿ · bⁿ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a⁰ = 1,  a⁻ⁿ = 1/aⁿ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167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Корни (a ≥ 0, b ≥ 0)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√(ab) = √a · √b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√(a/b) = √a / √b,  b ≠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(√a)² =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√(x²) = |x| для любого 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74904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74904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упрощаем, потом считаем: 6⁵ / (2⁴ · 3⁵) = 2, а не «посчитаем 6 в пятой».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Разбор: считаем быстро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29840" cy="1188720"/>
          </a:xfrm>
          <a:prstGeom prst="roundRect">
            <a:avLst>
              <a:gd name="adj" fmla="val 615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167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(3/4 + 5/6) : 19/24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216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38/24 = 19/12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19/12 · 24/19 =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07080" y="1188720"/>
            <a:ext cx="2529840" cy="1188720"/>
          </a:xfrm>
          <a:prstGeom prst="roundRect">
            <a:avLst>
              <a:gd name="adj" fmla="val 615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89960" y="13167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2⁷ · 2⁻³ : 2²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89960" y="1645920"/>
            <a:ext cx="216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2⁷⁻³⁻² = 2² = 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11240" y="1188720"/>
            <a:ext cx="2529840" cy="1188720"/>
          </a:xfrm>
          <a:prstGeom prst="roundRect">
            <a:avLst>
              <a:gd name="adj" fmla="val 615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94120" y="13167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√18 · √8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94120" y="1645920"/>
            <a:ext cx="216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√144 = 12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2529840" cy="1188720"/>
          </a:xfrm>
          <a:prstGeom prst="roundRect">
            <a:avLst>
              <a:gd name="adj" fmla="val 615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77977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(1/6 − 1/8)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108960"/>
            <a:ext cx="216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1/24 → 24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07080" y="2651760"/>
            <a:ext cx="2529840" cy="1188720"/>
          </a:xfrm>
          <a:prstGeom prst="roundRect">
            <a:avLst>
              <a:gd name="adj" fmla="val 615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89960" y="277977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(√13 − √7)(√13 + √7)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89960" y="3108960"/>
            <a:ext cx="216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13 − 7 = 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11240" y="2651760"/>
            <a:ext cx="2529840" cy="1188720"/>
          </a:xfrm>
          <a:prstGeom prst="roundRect">
            <a:avLst>
              <a:gd name="adj" fmla="val 615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94120" y="277977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(2√5)²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94120" y="3108960"/>
            <a:ext cx="216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5 = 20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Ловушки вычислений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29840" cy="1325880"/>
          </a:xfrm>
          <a:prstGeom prst="roundRect">
            <a:avLst>
              <a:gd name="adj" fmla="val 551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167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−3² и (−3)²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216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равно −9, второе 9.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07080" y="1188720"/>
            <a:ext cx="2529840" cy="1325880"/>
          </a:xfrm>
          <a:prstGeom prst="roundRect">
            <a:avLst>
              <a:gd name="adj" fmla="val 551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89960" y="13167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2⁻³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89960" y="1645920"/>
            <a:ext cx="216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1/8, а не −8.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11240" y="1188720"/>
            <a:ext cx="2529840" cy="1325880"/>
          </a:xfrm>
          <a:prstGeom prst="roundRect">
            <a:avLst>
              <a:gd name="adj" fmla="val 551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94120" y="13167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√(9 + 16)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94120" y="1645920"/>
            <a:ext cx="216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5, а не 3 + 4 = 7.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2529840" cy="1325880"/>
          </a:xfrm>
          <a:prstGeom prst="roundRect">
            <a:avLst>
              <a:gd name="adj" fmla="val 551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9169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+ b)²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246120"/>
            <a:ext cx="216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 a² + 2ab + b². Про 2ab забывают чаще всего.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07080" y="2788920"/>
            <a:ext cx="2529840" cy="1325880"/>
          </a:xfrm>
          <a:prstGeom prst="roundRect">
            <a:avLst>
              <a:gd name="adj" fmla="val 551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89960" y="29169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2³ · 3²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89960" y="3246120"/>
            <a:ext cx="216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 72. Показатели складываются только при равных основаниях.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11240" y="2788920"/>
            <a:ext cx="2529840" cy="1325880"/>
          </a:xfrm>
          <a:prstGeom prst="roundRect">
            <a:avLst>
              <a:gd name="adj" fmla="val 551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94120" y="29169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ответа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94120" y="3246120"/>
            <a:ext cx="216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Целое или конечная десятичная дробь. Получилось 7/3 — ищите ошибку.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Проценты: заменяем множителем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167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Увеличить на p%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(1 + p/100)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→ × 1,15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167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Уменьшить на p%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(1 − p/100)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−12% → × 0,88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5968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в процентах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· 100%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— то, «от чего» считаем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2468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5968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 на n лет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S₀ · (1 + p/100)ⁿ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200 000 · 1,08² = 233 280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5760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Последовательные изменения перемножаются: +20% и −20% дают 0,96 — минус 4%, а не ноль.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Проценты: типовые вопросы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35024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28016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 стоил 800 ₽ и подорожал на 15% → 800 · 1,15 = 920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48256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99339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упала с 1250 до 1000 ₽ → 250/1250 = 20%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70662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числа равны 48 → 48 : 0,3 = 160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419856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Выросло в 1,5 раза — значит на 50%; в 2 раза — на 100%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20624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20624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ответ пишем только число, без знака процента.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05840" cy="100584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463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Выражения и уравнения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402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Скобки · формулы сокращённого умножения · ОДЗ · три типа уравнений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Скобки и подобные слагаемые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344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3(2x − 5) − 2(4x − 7)  =  6x − 15 − 8x + 14  =  −2x − 1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529840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9397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перед скобкой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216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Знаки внутри не меняются.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07080" y="1965960"/>
            <a:ext cx="2529840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89960" y="209397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Минус перед скобкой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89960" y="2423160"/>
            <a:ext cx="216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Меняются знаки всех слагаемых, а не только первого.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11240" y="1965960"/>
            <a:ext cx="2529840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4120" y="209397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упрощаем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94120" y="2423160"/>
            <a:ext cx="216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4(3x − 1) − 6(2x − 3) = 14 при любом x. Икс исчез — подставлять нечего.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Формулы сокращённого умножения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29840" cy="1188720"/>
          </a:xfrm>
          <a:prstGeom prst="roundRect">
            <a:avLst>
              <a:gd name="adj" fmla="val 615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167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+ b)²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216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a² + 2ab + b²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07080" y="1188720"/>
            <a:ext cx="2529840" cy="1188720"/>
          </a:xfrm>
          <a:prstGeom prst="roundRect">
            <a:avLst>
              <a:gd name="adj" fmla="val 615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89960" y="13167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− b)²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89960" y="1645920"/>
            <a:ext cx="216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a² − 2ab + b²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11240" y="1188720"/>
            <a:ext cx="2529840" cy="1188720"/>
          </a:xfrm>
          <a:prstGeom prst="roundRect">
            <a:avLst>
              <a:gd name="adj" fmla="val 615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94120" y="13167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a² − b²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94120" y="1645920"/>
            <a:ext cx="216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(a − b)(a + b)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5603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Работают в обе стороны — и это способ считать без калькулятора: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971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37² − 27² = (37 − 27)(37 + 27) = 10 · 64 = 640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74904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Квадрат суммы — не сумма квадратов. Потерянное 2ab — самая частая ошибка темы.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Дроби с буквами и ОДЗ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(x² − 5x + 6)/(x − 2) = (x − 2)(x − 3)/(x − 2) = x − 3,   x ≠ 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975104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92024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Сокращать можно только множители, а не слагаемые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5420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появились множители — разложить: вынести общее, применить формулу, найти корни трёхчлена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316382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ОДЗ выписываем до преобразований: знаменатель ≠ 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78561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сокращения знаменатель исчезнет, а ограничение останется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типа уравнений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2529840" cy="2103120"/>
          </a:xfrm>
          <a:prstGeom prst="roundRect">
            <a:avLst>
              <a:gd name="adj" fmla="val 3478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6245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Линейное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2164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Раскрыть скобки, иксы влево, числа вправо, разделить.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5(x − 3) = 2x + 9 → x =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07080" y="1234440"/>
            <a:ext cx="2529840" cy="2103120"/>
          </a:xfrm>
          <a:prstGeom prst="roundRect">
            <a:avLst>
              <a:gd name="adj" fmla="val 3478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89960" y="136245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Квадратное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89960" y="1691640"/>
            <a:ext cx="2164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Дискриминант или теорема Виета при a = 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 − 5x − 14 = 0 → 7 и −2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11240" y="1234440"/>
            <a:ext cx="2529840" cy="2103120"/>
          </a:xfrm>
          <a:prstGeom prst="roundRect">
            <a:avLst>
              <a:gd name="adj" fmla="val 3478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94120" y="136245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Дробно-рациональное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94120" y="1691640"/>
            <a:ext cx="2164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ОДЗ, затем решение, затем отбор корней.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(x² − 9)/(x − 3) = 0 → только −3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6118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Коэффициенты маленькие и целые — пробуйте Виета: сумма корней −b, произведение c.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дробно-рационального уравнения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26464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37160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Выписать ОДЗ: знаменатель не равен нулю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93852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Привести к виду «дробь = 0» или избавиться от знаменателя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505456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Решить полученное уравнение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072384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Отбросить корни, не входящие в ОДЗ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694176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639312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ответ и проверить подстановкой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315968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3159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Пропущенный шаг 4 — готовый потерянный балл: в (x² − 9)/(x − 3) = 0 тройка не корень.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05840" cy="100584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463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Текстовые задачи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402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Движение · работа · смеси и сплавы · проценты и вклады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любой текстовой задачи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26464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37160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спрашивают? Это и обозначаем иксом, с единицами измерения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93852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Составляем таблицу величин по условию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505456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Находим фразу-связку: «на 1 час меньше», «вместе», «итого»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072384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Решаем уравнение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694176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639312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по смыслу и отвечаем на вопрос задачи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315968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3159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связь на все темы: v · t = s, производительность · время = работа, масса · концентрация = вещество.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Движение: три схемы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29840" cy="1371600"/>
          </a:xfrm>
          <a:prstGeom prst="roundRect">
            <a:avLst>
              <a:gd name="adj" fmla="val 533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167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Навстречу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216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Скорости складываются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s / (v₁ + v₂)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07080" y="1188720"/>
            <a:ext cx="2529840" cy="1371600"/>
          </a:xfrm>
          <a:prstGeom prst="roundRect">
            <a:avLst>
              <a:gd name="adj" fmla="val 533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89960" y="13167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Вдогонку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89960" y="1645920"/>
            <a:ext cx="216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Скорости вычитаются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s / (v₁ − v₂)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11240" y="1188720"/>
            <a:ext cx="2529840" cy="1371600"/>
          </a:xfrm>
          <a:prstGeom prst="roundRect">
            <a:avLst>
              <a:gd name="adj" fmla="val 533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94120" y="131673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воде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94120" y="1645920"/>
            <a:ext cx="216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течению v + 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 течения v − u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7432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км туда и обратно: обратно на 20 км/ч медленнее и на 1 час дольше.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1546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240/x − 240/(x + 20) = 1  →  x² + 20x − 4800 = 0  →  x = 60 км/ч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2920" y="388620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88620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корень −80 отбрасываем по смыслу: скорость не бывает отрицательной.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Работа: складываем производительности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= 1,   производительность = 1/t,   вместе: 1/t₁ + 1/t₂ = 1/t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482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Краны за 10 и 15 часов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 + 1/15 = 1/6 → вместе 6 часов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9202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20482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на 5 дней дольше второго, вместе за 6 дней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3774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1/x + 1/(x + 5) = 1/6 → x² − 7x − 30 = 0 → 10 дней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74904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Складывать сами времена нельзя: 10 + 15 = 25 часов «вместе» — заведомый абсурд.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Смеси и сплавы: считаем вещество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Масса вещества = масса раствора · концентрация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529840" cy="1737360"/>
          </a:xfrm>
          <a:prstGeom prst="roundRect">
            <a:avLst>
              <a:gd name="adj" fmla="val 4211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5681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г сплава, 20% меди, добавили 100 г меди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164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Медь: 60 + 100 = 160 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Сплав: 400 г → 40%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07080" y="1828800"/>
            <a:ext cx="2529840" cy="1737360"/>
          </a:xfrm>
          <a:prstGeom prst="roundRect">
            <a:avLst>
              <a:gd name="adj" fmla="val 4211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89960" y="195681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кг 15% и 6 кг 25%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89960" y="2286000"/>
            <a:ext cx="2164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Вещество: 0,6 + 1,5 = 2,1 кг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Раствор: 10 кг → 21%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11240" y="1828800"/>
            <a:ext cx="2529840" cy="1737360"/>
          </a:xfrm>
          <a:prstGeom prst="roundRect">
            <a:avLst>
              <a:gd name="adj" fmla="val 4211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4120" y="1956816"/>
            <a:ext cx="216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Добавили воду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94120" y="2286000"/>
            <a:ext cx="2164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 — раствор с концентрацией 0: вещество то же, масса растёт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74904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Проценты не складываются — складываются килограммы. Проверяйте: ответ лежит между исходными концентрациями.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быть к концу октября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26464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37160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часть считается без калькулятора и без ошибок в знаках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93852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 сокращённого умножения работают в обе стороны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505456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ОДЗ выписывается автоматически, корни сверяются с ним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072384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Текстовая задача начинается с таблицы, а не с попытки угадать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694176"/>
            <a:ext cx="384048" cy="384048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639312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Тетрадь ошибок заполняется после каждого занятия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315968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3159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по плану: планиметрия, вероятность и случайные величины, затем тригонометрия в 10 классе.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2026-10-01T10:24:11Z</dcterms:created>
  <dcterms:modified xsi:type="dcterms:W3CDTF">2026-10-01T10:24:11Z</dcterms:modified>
</cp:coreProperties>
</file>