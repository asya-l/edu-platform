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Действительные числа: § 1–5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 класс · подробный разбор теории с выводами и заданиями учебника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 Рациональные числа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581912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расширяли числа. Период в десятичной дроби и обратный перевод.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00984" y="1143000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  Действительные числа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581912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Иррациональные числа, оценка корня, модуль.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9048" y="1143000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5272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 Прогрессия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81912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бесконечно убывающей и связь с периодической дробью.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284378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  Корень n-й степени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172968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Определение, чётность показателя, свойства, модуль.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0984" y="2734056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65576" y="284378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 Дробная степень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3172968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берётся a^(m/n) и как её считать.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9048" y="2734056"/>
            <a:ext cx="2542032" cy="1335024"/>
          </a:xfrm>
          <a:prstGeom prst="roundRect">
            <a:avLst>
              <a:gd name="adj" fmla="val 5479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843784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172968"/>
            <a:ext cx="2212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блока — номера из учебника.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Целые и рациональные числа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числа «придумывали» по очереди и откуда берётся период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понадобились новые числа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— натуральные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3, 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Сложение и умножение не выводят наружу.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3 − 5 уже не натуральное.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00984" y="118872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— целые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627632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…, −2, −1, 0, 1, 2, 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ноль и отрицательные: вычитание закрыто.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3 : 5 не целое.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48" y="1188720"/>
            <a:ext cx="2542032" cy="2286000"/>
          </a:xfrm>
          <a:prstGeom prst="roundRect">
            <a:avLst>
              <a:gd name="adj" fmla="val 32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рациональные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2128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Дроби m/n, n ≠ 0.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 и деление (кроме деления на ноль).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= 7/1, значит целые тоже здесь.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70332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расширение решало ровно одну проблему: действие выводило за пределы известных чисел.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Рациональное число и десятичная запись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рациональное число — это конечная или бесконечная периодическая десятичная дробь.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42516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66420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 = 0,35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93392"/>
            <a:ext cx="1513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оборвалась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1468" y="1554480"/>
            <a:ext cx="1842516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6060" y="166420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 = 0,625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66060" y="1993392"/>
            <a:ext cx="1513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оборвалась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0016" y="1554480"/>
            <a:ext cx="1842516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4608" y="166420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 = 0,(3)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993392"/>
            <a:ext cx="1513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— одна цифра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98564" y="1554480"/>
            <a:ext cx="1842516" cy="1097280"/>
          </a:xfrm>
          <a:prstGeom prst="roundRect">
            <a:avLst>
              <a:gd name="adj" fmla="val 666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66420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 = 0,(45)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1993392"/>
            <a:ext cx="15133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— две цифры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29260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Дробь обрывается, когда знаменатель несократимой дроби состоит только из двоек и пятёрок: 20 = 2·2·5.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период обязательно появится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34440"/>
            <a:ext cx="7424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1 на 3 уголком и на каждом шаге получаем остаток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92808"/>
            <a:ext cx="7424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Остатков при делении на 3 всего три: 0, 1 или 2 — меньше делителя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551176"/>
            <a:ext cx="7424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деление не закончилось, остатки начинают повторяться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209544"/>
            <a:ext cx="74249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Повторился остаток — повторяется вся цепочка вычислений, это и есть период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02336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рассуждение годится для любого знаменателя n: остатков не больше n − 1, поэтому период неизбежен.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Перевод: 0,(27) → обыкновенная дробь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2529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188720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Обозначаем x = 0,272727…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92224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периоде две цифры → умножаем на 100: 100x = 27,272727…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395728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Вычитаем первое равенство из второго: бесконечные хвосты одинаковы и сокращаются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999232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99x = 27, значит x = 27/99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27/99 = 3/11.   Проверка: 3 : 11 = 0,2727…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43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Множитель — это 10 в степени «длина периода». Две цифры — сто, три цифры — тысяча.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Перевод: 0,2(7) — период не сразу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2529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188720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0,2777…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92224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Сдвигаем лишнюю цифру за запятую: 10x = 2,777…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395728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— одна цифра, поэтому ещё один сдвиг: 100x = 27,777…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999232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Вычитаем: 90x = 25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25/90 = 5/18.   Проверка: 5 : 18 = 0,2777…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43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Частая ошибка: умножить сразу на 10 и вычесть. Хвосты не совпадут, и ответ получится неверный.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1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6, упражнения 1–5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обыкновенные дроби в виде десятичных: 2/3, 8/11, 3/5, 13/99 и другие.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переход: записать 0,(6), 1,(55), 0,1(2), −3,(27) обыкновенной дробью.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действия и записать результат десятичной дробью: 2/11 + 1/9 и другие.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4–5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Длинные вычисления со смешанными дробями — на технику счёта без калькулятора.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Действительные числа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Иррациональные числа, оценка и модуль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Иррациональные числа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Рациональное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Конечная дробь или бесконечная с периодом.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00984" y="11887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Иррациональное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62763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Бесконечная дробь без периода: √2 = 1,41421356…, π = 3,14159…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9048" y="118872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действительные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Рациональные и иррациональные вместе. Заполняют числовую прямую целиком.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918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Диагональ квадрата со стороной 1 равна √2 — длина есть, а дробью m/n она не записывается.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8404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x ∈ R читается «икс принадлежит множеству действительных чисел».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числа и модуль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через квадраты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&lt; 29 &lt; 36, то есть 5² &lt; 29 &lt; 6².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 5 &lt; √29 &lt; 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1828800"/>
          </a:xfrm>
          <a:prstGeom prst="roundRect">
            <a:avLst>
              <a:gd name="adj" fmla="val 400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— расстояние до нуля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= a при a ≥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= −a при a &lt;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 означает «противоположное», а не «отрицательное».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004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|3 − √10| + √10 = (√10 − 3) + √10 = 2√10 − 3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8404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определяем знак выражения внутри модуля: √10 ≈ 3,16, значит 3 − √10 отрицательно.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2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10, упражнения 6–12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6 (устно)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Определить, какие из десятичных дробей иррациональны.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верное равенство: |x| = x или |x| = −x для выражений вида 5 − √7.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9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Выяснить, рационально или иррационально значение выражения с корнями.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10–11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произведения и частные корней, сравнить значения выражений.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Бесконечно убывающая прогрессия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формулы и связь с периодической дробью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за прогрессия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Геометрическая прогрессия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следующее число — предыдущее, умноженное на q.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4, 2, 1, 0,5, …  здесь b₁ = 8, q = 1/2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Бесконечно убывающая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прогрессия с |q| &lt; 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Члены становятся всё ближе к нулю, и у бесконечной суммы появляется конечное значение.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91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b₁ / (1 − q),   при |q| &lt; 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93192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Первым делом проверяем условие |q| &lt; 1. При q = 2 никакой суммы нет: члены растут.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берётся формула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34440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b₁ + b₁q + b₁q² + b₁q³ + …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37944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Умножаем обе части на q: qS = b₁q + b₁q² + b₁q³ + …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41448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— та же сумма, но без первого слагаемого: qS = S − b₁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44952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Переносим: S − qS = b₁, выносим S: S(1 − q) = b₁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b₁ / (1 − q)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разбора и мост к §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8, q = 1/2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8 : 0,5 = 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00984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5576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 = 12, q = −1/3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627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12 : 4/3 = 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48" y="118872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9844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+ 1/4 + 1/16 + …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27632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 : 3/4 = 4/3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060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Периодическая дробь — это тоже бесконечно убывающая прогрессия: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0175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0,(3) = 0,3 + 0,03 + 0,003 + … = 0,3 : (1 − 0,1) = 1/3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7490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ответ, что в § 1 другим способом. Отсюда видно, почему периодическая дробь всегда рациональна.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3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15, упражнения 13–16; задача 4 в тексте параграфа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Определить, является ли последовательность геометрической прогрессией по формуле n-го члена.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Доказать, что прогрессия бесконечно убывающая: 1, 1/5, 1/25, … и подобные.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16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Выяснить, бесконечно убывающая ли прогрессия, если известны два её члена.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4 (с. 15)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Разобрана в учебнике: дробь 0,(15) переводится в обыкновенную через формулу суммы. Ответ 5/33.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Арифметический корень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Определение, чётность показателя и свойства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Определение и договорённость о знаке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корень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ⁿ√a — число, n-я степень которого равна 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³√8 = 2, ⁴√81 = 3, √49 = 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1920240"/>
          </a:xfrm>
          <a:prstGeom prst="roundRect">
            <a:avLst>
              <a:gd name="adj" fmla="val 3810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√9 = 3, а не ±3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уравнения x² = 9 два корня: ±3.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знак √ обозначает одно конкретное число — неотрицательное. Это договорённость.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33756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договорённости раскроется в § 7: корень — функция, а функция даёт ровно одно значение.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Нечётный показатель: корень есть из любого числа, ³√(−125) = −5. Чётный: только из неотрицательного.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 ловушка: √(a²) = |a|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34440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внутри: (−6)² = 36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37944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Извлекаем корень: √36 = 6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41448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Получили 6, а не −6 — корень вернул не само число, а его модуль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44952"/>
            <a:ext cx="7424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нечётной степени модуль не нужен: ³√((−5)³) = −5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703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⁴√(x⁴) при x &lt; 0 равно |x| = −x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4340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Запомни: квадрат убивает знак, а корень его не возвращает. Поэтому и появляется модуль.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Свойства корней и приём «под один корень»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Свойства (a ≥ 0, b &gt; 0)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ⁿ√(ab) = ⁿ√a · ⁿ√b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ⁿ√(a/b) = ⁿ√a / ⁿ√b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(ⁿ√a)ᵐ = ⁿ√(aᵐ)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ᵐ√(ⁿ√a) = ᵐⁿ√a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2194560"/>
          </a:xfrm>
          <a:prstGeom prst="roundRect">
            <a:avLst>
              <a:gd name="adj" fmla="val 3333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корни по отдельности «некрасивые», собираем их под один: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³√40 · ³√25 = ³√1000 =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⁴√81 · ⁴√16 = ⁴√1296 =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6118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встречается постоянно: по отдельности корни не берутся, а вместе дают круглое число.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4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22, упражнения 37–46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Извлечь корень из выражений с буквами и степенями: ³√(64x³z⁶) и подобные.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39–40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корни из дробей и частные корней — прямая отработка свойств.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выражения вида (⁶√7³)² — степень корня и корень степени.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45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каких значениях x выражение имеет смысл — работа с чётным показателем корня.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1051560" cy="10515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 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157276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Степень с рациональным показателем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2377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определение именно такое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берутся a⁰ и a⁻ⁿ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41064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67512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показатель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62763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 : aⁿ = aⁿ⁻ⁿ = a⁰ по свойству деления.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слева число делится само на себя, то есть 1.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 a⁰ = 1.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0016" y="1188720"/>
            <a:ext cx="3941064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64608" y="1298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Отрицательный показатель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62763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a⁰ : aⁿ = a⁰⁻ⁿ = a⁻ⁿ.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1 : aⁿ = 1/aⁿ.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 a⁻ⁿ = 1/aⁿ.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5204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определения не придуманы отдельно: их выбрали так, чтобы старые свойства степеней продолжали работать.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берётся дробный показатель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свойство (aᵖ)ᵠ = aᵖᵠ должно работать и для дробей, то: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(a^(1/2))² = a^(1/2 · 2) = a¹ = 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1031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 a^(1/2) — это число, квадрат которого равен a. А это и есть √a.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a^(m/n) = ⁿ√(aᵐ),   a &gt; 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2918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Запоминаем так: знаменатель показателя — это показатель корня, числитель — степень под корнем.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только a &gt; 0: иначе (−8)^(1/3) = −2, но (−8)^(2/6) = ⁶√64 = 2 — противоречие.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считать: три шага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2529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25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18872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 показателя: при минусе переворачиваем основание-дробь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3736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Знаменатель показателя: извлекаем корень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286000"/>
            <a:ext cx="7424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Числитель показателя: возводим в степень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842516" cy="1051560"/>
          </a:xfrm>
          <a:prstGeom prst="roundRect">
            <a:avLst>
              <a:gd name="adj" fmla="val 695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08152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25^(3/2)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410712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(√25)³ = 5³ = 125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1468" y="2971800"/>
            <a:ext cx="1842516" cy="1051560"/>
          </a:xfrm>
          <a:prstGeom prst="roundRect">
            <a:avLst>
              <a:gd name="adj" fmla="val 695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66060" y="308152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81^(−1/4)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66060" y="3410712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⁴√81 = 1/3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0016" y="2971800"/>
            <a:ext cx="1842516" cy="1051560"/>
          </a:xfrm>
          <a:prstGeom prst="roundRect">
            <a:avLst>
              <a:gd name="adj" fmla="val 695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64608" y="308152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(16/81)^(3/4)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3410712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(2/3)³ = 8/27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98564" y="2971800"/>
            <a:ext cx="1842516" cy="1051560"/>
          </a:xfrm>
          <a:prstGeom prst="roundRect">
            <a:avLst>
              <a:gd name="adj" fmla="val 6957"/>
            </a:avLst>
          </a:prstGeom>
          <a:solidFill>
            <a:srgbClr val="E8EDFB"/>
          </a:solidFill>
          <a:ln w="12700">
            <a:solidFill>
              <a:srgbClr val="E8ED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3156" y="3081528"/>
            <a:ext cx="15133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(1/27)^(−2/3)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63156" y="3410712"/>
            <a:ext cx="1513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27^(2/3) = 3² = 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20624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раньше степени — числа остаются маленькими. Иначе в первом примере пришлось бы считать 25³ = 15 625.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Задания из учебника к § 5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875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Алимов, 10–11 класс · с. 33, упражнения 74–76 (и далее 77–82 — углублённые)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76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Вычислить выражения с дробными и отрицательными показателями — главный номер темы.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0016" y="1371600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48132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75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числа вида ³√2 и ³√3, ⁴√5 и ⁴√7.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74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Упростить выражения со степенями, где показатели — иррациональные числа.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2505456"/>
            <a:ext cx="3941064" cy="877824"/>
          </a:xfrm>
          <a:prstGeom prst="roundRect">
            <a:avLst>
              <a:gd name="adj" fmla="val 8333"/>
            </a:avLst>
          </a:prstGeom>
          <a:solidFill>
            <a:srgbClr val="E7F3EC"/>
          </a:solidFill>
          <a:ln w="12700">
            <a:solidFill>
              <a:srgbClr val="E7F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61518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 77–78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9443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Углублённый уровень: буквенные выражения с дробными степенями. Для сильного ученика.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Проверь себя: § 1–5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62456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325880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Рассказать цепочку N → Z → Q → R и зачем понадобилось каждое расширение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892808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Перевести периодическую дробь в обыкновенную и объяснить выбор множителя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459736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 S = b₁/(1 − q), проверив условие |q| &lt;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026664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√(a²) = |a| и объяснить, откуда берётся модуль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C878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593592"/>
            <a:ext cx="7424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Посчитать степень с дробным показателем в три шага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29768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DF3E2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297680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§ 6–8 — степенная функция, обратные функции и равносильность.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2026-10-02T20:00:49Z</dcterms:created>
  <dcterms:modified xsi:type="dcterms:W3CDTF">2026-10-02T20:00:49Z</dcterms:modified>
</cp:coreProperties>
</file>